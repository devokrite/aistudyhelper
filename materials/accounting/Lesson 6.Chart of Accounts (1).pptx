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6" r:id="rId3"/>
    <p:sldId id="280" r:id="rId4"/>
    <p:sldId id="290" r:id="rId5"/>
    <p:sldId id="308" r:id="rId6"/>
    <p:sldId id="291" r:id="rId7"/>
    <p:sldId id="304" r:id="rId8"/>
    <p:sldId id="306" r:id="rId9"/>
    <p:sldId id="307" r:id="rId10"/>
    <p:sldId id="302" r:id="rId11"/>
    <p:sldId id="297" r:id="rId12"/>
    <p:sldId id="292" r:id="rId13"/>
    <p:sldId id="295" r:id="rId14"/>
    <p:sldId id="293" r:id="rId15"/>
    <p:sldId id="294" r:id="rId16"/>
    <p:sldId id="298" r:id="rId17"/>
    <p:sldId id="299" r:id="rId18"/>
    <p:sldId id="300" r:id="rId19"/>
    <p:sldId id="309" r:id="rId20"/>
    <p:sldId id="303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D0C3E-457D-4891-84E3-409AE5C4D64C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235CD-54B7-43FD-871E-E1C89DE2D1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43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06A54D-8F1A-4E9B-A7A2-6E21B9A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301203-5B4A-4E9B-8587-2306F3CA7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56D810-7A61-43BA-A843-5B50213F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4E0C69-42A5-4412-BF37-8566A78C5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8D19B0-BC77-47E9-BF32-84411F3E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4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480B5-54F3-4C87-AED5-B0680695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6F5717-D2EA-4E39-AA25-5A1576F53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ABE289-8321-4C96-BCD7-1B4EC4384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1AF16D-4C43-41D6-99DD-A05A7598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FAC14C-B19B-4EA8-A5D4-F9AE824B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86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8EEF2-7EF2-49D5-ACDC-4B1314CA0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9D765E-3514-4721-8E73-67A53CF94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0BA3BF-0270-4CAB-BF12-C97205D8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8A935B-43C9-41FD-A214-859C692B6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519AF1-87AB-4797-A7A6-B88AC6CD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809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93106-BA48-4FE5-9D6C-6809013F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0F0A6F-86D9-48E7-8CC0-3B6BA2BAF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A0CE99-97D7-477A-9D00-91478E00A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741E0B-E107-4AFA-A5E1-8BC116FB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71D09-9904-4D32-A9C4-B6AEC72B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B6508A-ED24-461D-8883-F93D8666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431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44AEA-FD4B-42A5-B99E-A8153CB5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D63D3-BF54-4024-B424-D1C3DFB9D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6F1B0F-73F7-48CC-8931-5032FC4ED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77768A1-86C0-4968-A6CA-52A0DF589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BD13BC7-E305-4054-B7CF-213878AD5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8D1B684-FDE5-4F3B-AC65-4D1F7081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F0B014B-F960-499C-9991-1D5FCF337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E2CA24B-BF73-4FB1-805A-3F41E7B2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577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3D794D-B213-4757-8648-6D28B2D51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0D76778-425F-4126-A929-98889BC7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21A87F-4F33-4E74-A1F0-87507FF6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80B7CF-93AD-4372-89F5-9D506337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764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E142400-88FB-4166-9FBB-3328D7AA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C060DFA-20D8-4F26-9985-1F2D8E2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C5DAE7-2987-4BE3-B44E-3600FAA4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208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580E5-D70A-45FC-BEBB-5BE0F884A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11F003-DD50-4700-8D84-1A9AC8667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63F78C-6F28-4810-8312-1F44DA405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71B52B-08EC-4B14-AB37-60AB73761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BD812A-6DA7-4629-AD1E-4325A60E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4A4D53-9B6A-4890-9EDF-DC9CE6D5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90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4B1681-F821-49D1-B47F-F85B2CF23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0B833C5-8F60-434D-8DCA-91453C752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7776DE-4316-4B3E-8F57-F816D3804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0042C5-626A-44A2-8C21-C7C9F5B2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2EBFD2-AFFD-4F0E-B628-91C3B67D4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A532FF-FFF4-4B71-BD6E-EC103120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31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EBF7EB-9553-4D49-A69D-4D8AE059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FF8572-FCDA-4EC6-A729-EF89C24E0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B302C1-9645-4B6B-B88B-66570DF9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7AE483-AC3E-443E-8F6C-16D7E895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B56849-0016-4DD1-9C25-4EDB5F4D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723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58E0E14-C682-4933-8F7C-E7E49E820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4128F6-0CC6-4EB8-BC8A-59196C2A7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E091BD-B586-473A-A929-17BD45DC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7D46E9-D8A4-43B0-859C-24E95CE60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9B4678-BE97-4E8F-A00E-FF3B94D98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832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A9BED3C-3B75-4474-AA8A-896286C5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DD9AFE-8069-42A2-8DC9-47A38A183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B2BAB8-32A6-462C-B0C0-6C0C98155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36A66-BE96-44F5-99BA-BA05784F0ECB}" type="datetimeFigureOut">
              <a:rPr lang="de-DE" smtClean="0"/>
              <a:t>13.10.2025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5962C2-293D-43C3-A744-F901A506D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F72F9A-CBFF-4FA4-8E68-54E6089A4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08AB6-1207-4FDD-A40A-C5C6F75065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641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EE0447-35D3-42AB-BEBC-C2E82DFBF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8246" y="-122620"/>
            <a:ext cx="9144000" cy="2387600"/>
          </a:xfrm>
        </p:spPr>
        <p:txBody>
          <a:bodyPr>
            <a:normAutofit/>
          </a:bodyPr>
          <a:lstStyle/>
          <a:p>
            <a:r>
              <a:rPr lang="de-DE" b="1" dirty="0"/>
              <a:t>Chart </a:t>
            </a:r>
            <a:r>
              <a:rPr lang="de-DE" b="1" dirty="0" err="1"/>
              <a:t>of</a:t>
            </a:r>
            <a:r>
              <a:rPr lang="de-DE" b="1" dirty="0"/>
              <a:t> Accounts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7862A80-204E-4893-9D8D-8CDA112B7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0787" y="4593020"/>
            <a:ext cx="5896303" cy="1313793"/>
          </a:xfrm>
        </p:spPr>
        <p:txBody>
          <a:bodyPr>
            <a:normAutofit lnSpcReduction="10000"/>
          </a:bodyPr>
          <a:lstStyle/>
          <a:p>
            <a:r>
              <a:rPr lang="de-DE" b="1" dirty="0" err="1"/>
              <a:t>Ph.D</a:t>
            </a:r>
            <a:r>
              <a:rPr lang="de-DE" b="1" dirty="0"/>
              <a:t> in </a:t>
            </a:r>
            <a:r>
              <a:rPr lang="de-DE" b="1" dirty="0" err="1"/>
              <a:t>Economic</a:t>
            </a:r>
            <a:r>
              <a:rPr lang="de-DE" b="1" dirty="0"/>
              <a:t> </a:t>
            </a:r>
            <a:r>
              <a:rPr lang="de-DE" b="1" dirty="0" err="1"/>
              <a:t>sciences</a:t>
            </a:r>
            <a:r>
              <a:rPr lang="de-DE" b="1" dirty="0"/>
              <a:t>,</a:t>
            </a:r>
          </a:p>
          <a:p>
            <a:r>
              <a:rPr lang="de-DE" b="1" dirty="0"/>
              <a:t>Associate Professor</a:t>
            </a:r>
          </a:p>
          <a:p>
            <a:r>
              <a:rPr lang="de-DE" b="1" dirty="0"/>
              <a:t>Ulan </a:t>
            </a:r>
            <a:r>
              <a:rPr lang="de-DE" b="1" dirty="0" err="1"/>
              <a:t>Moldokmatov</a:t>
            </a:r>
            <a:endParaRPr lang="de-DE" dirty="0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832B2293-36A0-46B6-BFFF-AF9239F37C1D}"/>
              </a:ext>
            </a:extLst>
          </p:cNvPr>
          <p:cNvSpPr txBox="1">
            <a:spLocks/>
          </p:cNvSpPr>
          <p:nvPr/>
        </p:nvSpPr>
        <p:spPr>
          <a:xfrm>
            <a:off x="509754" y="391894"/>
            <a:ext cx="2264977" cy="543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 err="1"/>
              <a:t>Lesson</a:t>
            </a:r>
            <a:r>
              <a:rPr lang="de-DE" b="1" dirty="0"/>
              <a:t> 6.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EB555D-7103-4E5F-A064-650FB297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64" y="2557113"/>
            <a:ext cx="4191733" cy="419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26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E900768-2FAA-4FDD-AA9B-6CA251B34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36" y="177800"/>
            <a:ext cx="11623964" cy="6565900"/>
          </a:xfrm>
        </p:spPr>
        <p:txBody>
          <a:bodyPr>
            <a:normAutofit/>
          </a:bodyPr>
          <a:lstStyle/>
          <a:p>
            <a:endParaRPr lang="de-DE" dirty="0"/>
          </a:p>
          <a:p>
            <a:r>
              <a:rPr lang="de-DE" b="1" dirty="0"/>
              <a:t>AGENDA</a:t>
            </a:r>
          </a:p>
          <a:p>
            <a:endParaRPr lang="de-DE" dirty="0"/>
          </a:p>
          <a:p>
            <a:pPr algn="l"/>
            <a:r>
              <a:rPr lang="de-DE" dirty="0"/>
              <a:t>I. </a:t>
            </a:r>
            <a:r>
              <a:rPr lang="en-US" dirty="0"/>
              <a:t>The concept of the chart of accounts, its purpose. </a:t>
            </a:r>
          </a:p>
          <a:p>
            <a:pPr algn="l"/>
            <a:r>
              <a:rPr lang="en-US" dirty="0"/>
              <a:t>The structure of the plan of accounts of accounting.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II. The working chart of accounts - the basis of the system of organization of</a:t>
            </a:r>
          </a:p>
          <a:p>
            <a:pPr algn="l"/>
            <a:r>
              <a:rPr lang="en-US" dirty="0"/>
              <a:t>accounting of economic entities. Registration of business transactions</a:t>
            </a:r>
            <a:r>
              <a:rPr lang="de-DE" dirty="0"/>
              <a:t>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98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056B1E-7DE5-4E5D-8F1C-C4F5BA442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6" y="193964"/>
            <a:ext cx="11873346" cy="6442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400" b="1" u="sng" dirty="0">
                <a:solidFill>
                  <a:srgbClr val="00B050"/>
                </a:solidFill>
              </a:rPr>
              <a:t>I. </a:t>
            </a:r>
            <a:r>
              <a:rPr lang="en-US" sz="2400" b="1" u="sng" dirty="0">
                <a:solidFill>
                  <a:srgbClr val="00B050"/>
                </a:solidFill>
              </a:rPr>
              <a:t>Permanent accounting accounts: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Chart of Accounts (COA)</a:t>
            </a:r>
            <a:r>
              <a:rPr lang="en-US" dirty="0"/>
              <a:t> in Kyrgyzstan serves as a framework for organizing all the financial transactions of a business. It aligns with the country's accounting standards, which may include specific account codes and structures required by local regulations, particularly for tax reporting and financial compliance.</a:t>
            </a:r>
          </a:p>
          <a:p>
            <a:pPr marL="0" indent="0">
              <a:buNone/>
            </a:pPr>
            <a:r>
              <a:rPr lang="en-US" b="1" dirty="0"/>
              <a:t>Key Components of a Chart of Accounts: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Account Types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Assets</a:t>
            </a:r>
            <a:r>
              <a:rPr lang="en-US" dirty="0"/>
              <a:t>: Accounts related to resources owned by the company (e.g., Cash, Accounts Receivable, Inventory).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Liabilities</a:t>
            </a:r>
            <a:r>
              <a:rPr lang="en-US" dirty="0"/>
              <a:t>: Accounts related to obligations owed by the company (e.g., Accounts Payable, Loans Payable).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Equity</a:t>
            </a:r>
            <a:r>
              <a:rPr lang="en-US" dirty="0"/>
              <a:t>: Accounts that represent the owner’s interest in the company (e.g., Common Stock, Retained Earnings).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Revenue</a:t>
            </a:r>
            <a:r>
              <a:rPr lang="en-US" dirty="0"/>
              <a:t>: Accounts that record income from the company’s operations (e.g., Sales Revenue, Service Income).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Expenses</a:t>
            </a:r>
            <a:r>
              <a:rPr lang="en-US" dirty="0"/>
              <a:t>: Accounts that record the costs incurred by the company (e.g., Rent Expense, Salaries Expense, Utility Expense).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712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011B9C-64F3-8F1A-55C1-29081E8EA3AC}"/>
              </a:ext>
            </a:extLst>
          </p:cNvPr>
          <p:cNvSpPr txBox="1"/>
          <p:nvPr/>
        </p:nvSpPr>
        <p:spPr>
          <a:xfrm>
            <a:off x="420914" y="151178"/>
            <a:ext cx="437231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 OF ACCOUNTS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1000 ‘Current assets’ (Short term assets)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1100 ‘Cash on hand’.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1110 ‘Cash in national currency’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1120 ‘Cash in foreign currency’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1130 ‘Cash documents’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1140 ‘Cash equivalents’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1200 ‘Monetary funds in bank’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1210 ‘Accounts in national currency’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1220 ‘Accounts in foreign currency with local banks’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1230 ‘Accounts in foreign banks’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1240 ‘Restricted cash in banks’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1250 ‘Cash in transit’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1300 ‘Short-term investments’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1310 ‘Debt securities’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1320 ‘Equity securities’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1330 ‘Credits, loans issued’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1340 ‘Deposits’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1350 ‘Current portion of long-term investments’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1350 ‘Current portion of long-term investments’ ‘Other short-term investments’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1400 ‘Accounts receivable’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1410 ‘Accounts receivable for goods and services’ </a:t>
            </a:r>
            <a:endParaRPr lang="ru-RU" sz="16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1491 ‘Allowance for bad debts on accounts receivable’ 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F0A21-FA86-23AB-AEB6-5454B51E911F}"/>
              </a:ext>
            </a:extLst>
          </p:cNvPr>
          <p:cNvSpPr txBox="1"/>
          <p:nvPr/>
        </p:nvSpPr>
        <p:spPr>
          <a:xfrm>
            <a:off x="5672628" y="357638"/>
            <a:ext cx="5639385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1500 ‘Accounts receivable for other operations.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1510 ‘Notes receivable’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1520 ‘Receivables from employees and directors’ </a:t>
            </a:r>
            <a:endParaRPr lang="ru-RU" sz="11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1530 ‘Taxes paid in advance’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1540 ‘Taxes refundable’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1550 ‘Interest receivable’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1560 ‘Dividends receivable’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1570 ‘Indebtedness of customers under construction contract’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1570 ‘Indebtedness of customers under construction contract’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1580 ‘Current portion of non-current receivables’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1590 ‘Other receivables’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1600 ‘Inventories’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1610 ‘Goods’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1691 ‘</a:t>
            </a:r>
            <a:r>
              <a:rPr lang="en-US" sz="1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Unrealised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trade mark-up’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1620 ‘Stocks of raw materials and basic materials’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1620 ‘Stocks of raw materials and basic materials’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1630 ‘Work in progress’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1640 ‘Finished goods’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1650 ‘Agricultural products from biological assets’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1700 ‘Stocks of auxiliary materials’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1710 ‘Fuel’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1720 ‘Spare parts’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1730 ‘Construction materials’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1740 ‘Other materials’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1750 ‘Low-value and wear-and-tear items’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1750 ‘Low-value and wear-and-tear items’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1795 ‘Low-value and wear-and-tear items in operation’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1795 ‘Low-value and wear-and-tear items in operation’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1800 ‘Advances issued’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1810 ‘Inventories paid in advance’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1810 ‘Inventories paid in advance’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1820 ‘Services paid in advance’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1830 ‘Rent paid in advance’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1830 ‘Rent paid in advance’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1890 ‘Other types of advance payments’ 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1890 ‘Other types of advance payments’</a:t>
            </a:r>
            <a:endParaRPr lang="ru-RU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1900 ‘Indebtedness of founders (participants) on contributions to the </a:t>
            </a:r>
            <a:r>
              <a:rPr lang="en-US" sz="1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authorised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capital’.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5703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F8759B-A0E9-FD3B-6FF8-DCAFA00D9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116112"/>
            <a:ext cx="5714883" cy="6487886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2000 ‘Non-current assets’ (Long term assets)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2100 ‘Fixed assets’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2110 ‘Land’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2120 ‘Construction in progress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2130 ‘Buildings, constructions’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2193 ‘Accumulated depreciation - buildings, constructions’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2193 ‘Accumulated depreciation - buildings, constructions’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2140 ‘Equipment’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2194 ‘Accumulated depreciation - equipment’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2150 ‘Office equipment’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2195 ‘Accumulated depreciation - office equipment’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2195 ‘Accumulated depreciation - office equipment’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2160 ‘Furniture and fixtures’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2196 ‘Accumulated depreciation - furniture and supplies’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2196 ‘Accumulated depreciation - furniture and supplies’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2170 ‘Motor vehicles’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2197 ‘Accumulated depreciation - motor vehicles’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2197 ‘Accumulated depreciation - motor vehicles’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2180 ‘Leasehold improvements’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2180 ‘Leasehold improvements’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2198 ‘Accumulated depreciation - leasehold improvements’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2190 ‘Improvement of land plots’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2199 ‘Accumulated depreciation - improvement of land plots’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2200 ‘Biological assets’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2210 ‘Animals (consumable biological assets)’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2220 ‘Animals (fruiting biological assets)’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2230 ‘Plants (consumable biological assets)’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2240 ‘Fruiting plants’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2250 ‘Biological assets accounted for at cost’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2290 ‘Other biological assets’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6CD834-0C07-5075-5483-C786E2FA1084}"/>
              </a:ext>
            </a:extLst>
          </p:cNvPr>
          <p:cNvSpPr txBox="1"/>
          <p:nvPr/>
        </p:nvSpPr>
        <p:spPr>
          <a:xfrm>
            <a:off x="6096000" y="110868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2300 ‘Investment in real estate’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2310 ‘Land’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2320 ‘Buildings and constructions’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2330 ‘Reconstruction of real estate investment objects’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2400 ‘Deferred tax assets’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2500 ‘Restricted cash’.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2700 ‘Long-term receivables’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2710 ‘Bills of exchange received’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2720 ‘Long-term receivables from buyers and customers’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2780 ‘Non-current Deferred Expenses’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2790 ‘Other long-term receivables’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2800 ‘Long-term investments’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2810 ‘Debt securities’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2820 ‘Credits, loans issued’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2830 ‘Investments in subsidiaries’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2840 ‘Investments in joint operations’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2850 ‘Investments in associates’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2890 ‘Other long-term investments’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2900 ‘Intangible assets’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2910 ‘Franchise’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2991 ‘Accumulated 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franchise’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2920 ‘Goodwill’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2992 ‘Accumulated 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goodwill’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2930 ‘Patents’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2993 ‘Accumulated 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patents’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2940 ‘Trade marks’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2994 ‘Accumulated 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trademarks’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2950 ‘Copyrights’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2995 ‘Accumulated 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copyrights’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2960 ‘Software’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2996 ‘Accumulated 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software’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2970 ‘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Licence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agreement’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2997 ‘Accumulated 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licence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agreement’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2980 ‘Other assets’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2998 ‘Accumulated 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other assets’ 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2990 ‘Development in progress’</a:t>
            </a:r>
            <a:endParaRPr lang="ru-RU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06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AA4D2C7-915E-1BD1-6382-E72BF8FDF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258097"/>
            <a:ext cx="5383161" cy="642292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3000 ‘Current liabilities’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3100 ‘Accounts payable’</a:t>
            </a:r>
            <a:endParaRPr lang="ru-RU" sz="18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3110 ‘Accounts payable for goods and services’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3190 ‘Other invoices payable’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3200 ‘Advances received’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3210 ‘Advances from buyers and customers’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3220 ‘Indebtedness to customers under construction contracts’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3300 ‘Short-term debt obligations’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3310 ‘Bank credits, loans’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3320 ‘Other credits, loans’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3330 ‘Current portion of long-term debt obligations’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3390 ‘Other short-term debt liabilities’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3400 ‘Taxes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3410 ‘Income tax payable’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3420 ‘Personal income tax payable’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3430 ‘VAT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3440 ‘Excises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3490 ‘Other taxes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3500 ‘Short-term accrued liabilities’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3510 ‘Accrued liabilities for payment for goods and services’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3520 ‘Accrued wages and salaries’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3530 ‘Accrued social security contributions’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3540 ‘Dividends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3550 ‘Accrued interest on debt obligations’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3590 ‘Other accrued expenses’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3600 ‘Other short-term liabilities’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3700 ‘Reserves’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BF865-68D4-4CBF-D035-2668BF208E3A}"/>
              </a:ext>
            </a:extLst>
          </p:cNvPr>
          <p:cNvSpPr txBox="1"/>
          <p:nvPr/>
        </p:nvSpPr>
        <p:spPr>
          <a:xfrm>
            <a:off x="5560142" y="258097"/>
            <a:ext cx="609845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4000 ‘Long-term liabilities’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4100 ‘Long-term liabilities’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4110 ‘Bonds payable’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4120 ‘Bank credits, loans’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4130 ‘Other credits, loans’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4140 ‘Bills of exchange payable’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4150 ‘Finance Lease Obligations’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4190 ‘Other long-term liabilities’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4200 ‘Deferred income’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4300 ‘Deferred tax liabilities’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5000 ‘Equity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5100 ‘Authorized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5110 ‘Ordinary shares’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5120 ‘Preference shares’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5191 ‘Treasury shares’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5130 ‘Other authorized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5200 ‘Other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5210 ‘Additional paid-in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5220 ‘Adjustments on revaluation of assets’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5230 ‘Foreign exchange differences on foreign currency transactions with foreign companies’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5240 ‘Capital advanced by owner(s)’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5300 ‘Retained earnings</a:t>
            </a:r>
            <a:endParaRPr lang="ru-RU" sz="28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5400 ‘Reserve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5999 ‘Summary of income and expenses’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532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732A5-F2D0-3A50-FABF-CD3269517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F78C372-9F58-22C6-386B-8F2C160A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258097"/>
            <a:ext cx="5383161" cy="642292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3000 ‘Current liabilities’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3100 ‘Accounts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3110 ‘Accounts payable for goods and services’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3190 ‘Other invoices payable’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3200 ‘Advances received’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3210 ‘Advances from buyers and customers’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3220 ‘Indebtedness to customers under construction contracts’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3300 ‘Short-term debt obligations’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3310 ‘Bank credits, loans’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3320 ‘Other credits, loans’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3330 ‘Current portion of long-term debt obligations’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3390 ‘Other short-term debt liabilities’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3400 ‘Taxes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3410 ‘Income tax payable’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3420 ‘Personal income tax payable’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3430 ‘VAT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3440 ‘Excises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3490 ‘Other taxes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3500 ‘Short-term accrued liabilities’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3510 ‘Accrued liabilities for payment for goods and services’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3520 ‘Accrued wages and salaries’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3530 ‘Accrued social security contributions’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3540 ‘Dividends payable’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3550 ‘Accrued interest on debt obligations’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3590 ‘Other accrued expenses’ 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3600 ‘Other short-term liabilities’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3700 ‘Reserves’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3D02C-6B06-35C6-A70B-4E4221FB557C}"/>
              </a:ext>
            </a:extLst>
          </p:cNvPr>
          <p:cNvSpPr txBox="1"/>
          <p:nvPr/>
        </p:nvSpPr>
        <p:spPr>
          <a:xfrm>
            <a:off x="5560142" y="258097"/>
            <a:ext cx="609845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4000 ‘Long-term liabilities’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4100 ‘Long-term liabilities’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4110 ‘Bonds payable’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4120 ‘Bank credits, loans’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4130 ‘Other credits, loans’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4140 ‘Bills of exchange payable’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4150 ‘Finance Lease Obligations’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4190 ‘Other long-term liabilities’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4200 ‘Deferred income’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4300 ‘Deferred tax liabilities’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5000 ‘Equity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5100 ‘Authorized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5110 ‘Ordinary shares’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5120 ‘Preference shares’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5191 ‘Treasury shares’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5130 ‘Other authorized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5200 ‘Other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5210 ‘Additional paid-in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5220 ‘Adjustments on revaluation of assets’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5230 ‘Foreign exchange differences on foreign currency transactions with foreign companies’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5240 ‘Capital advanced by owner(s)’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5300 ‘Retained earnings</a:t>
            </a:r>
            <a:endParaRPr lang="ru-RU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5400 ‘Reserve capital’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5999 ‘Summary of income and expenses’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052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0003-26E8-84A0-4F26-7D7CEEAE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70351A-6A3D-35E3-94C4-06BF36FBE0C1}"/>
              </a:ext>
            </a:extLst>
          </p:cNvPr>
          <p:cNvSpPr txBox="1"/>
          <p:nvPr/>
        </p:nvSpPr>
        <p:spPr>
          <a:xfrm>
            <a:off x="217539" y="797510"/>
            <a:ext cx="53929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6000 ‘Income from operating activities’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6100 ‘Revenue’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6110 ‘Revenue from sale of goods and services’ 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6120 ‘Return of sold goods and discounts’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6120 ‘Return of goods sold and discounts’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6130 ‘Revenue from exchange of goods and services’ 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6130 ‘Revenue from exchange of goods and services’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6140 ‘Revenue from construction contracts.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6150 ‘Revenue from the use by other organizations </a:t>
            </a: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the subject's assets’ 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6140 ‘Revenue from construction contracts’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6160 ‘Revenues from insurance contracts.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6200 ‘Other income from operating activities’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6300 ‘Profit (loss) from biological assets’ 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6300 ‘Profit (loss) from biological assets’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6310 ‘Profit (loss) from initial recognition of biological assets’ 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6310 ‘Profit (loss) from biological assets’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6320 ‘Profit from harvesting agricultural products’ 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6320 ‘Profit (loss) from initial recognition of biological assets’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6330 ‘Gain (loss) on change in fair value of biological assets’ 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6330 ‘Gain (loss) on change in fair value of biological assets’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BFF22-AEAF-CD7F-7014-8A1153EEC1CD}"/>
              </a:ext>
            </a:extLst>
          </p:cNvPr>
          <p:cNvSpPr txBox="1"/>
          <p:nvPr/>
        </p:nvSpPr>
        <p:spPr>
          <a:xfrm>
            <a:off x="5876003" y="240804"/>
            <a:ext cx="6098458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7000 ‘Operating expenses’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7000 ‘Cost of sales of products and services determined by the continuous inventory method’ 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7000 ‘Cost of sales of products and services determined by the continuous inventory method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7100 ‘Cost of sales of products and services determined by the periodic inventory method’ 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7100 ‘Cost of sales of products and services determined by the continuous inventory method’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7110 ‘Acquisition costs of raw materials and supplies including returns’ 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7120 ‘Cost of sales of products and services determined by the periodic inventory method’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7120 ‘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Labour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costs’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7130 ‘Costs of contributions to the Social Fund’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7140 ‘Expenses for public utilities’ 7140 ‘Expenses for public utilities’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7150 ‘Costs of depreciation of fixed production assets’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7160 ‘Costs of repair and maintenance of fixed assets’ 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7170 ‘Other production costs’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7180 ‘</a:t>
            </a:r>
            <a:r>
              <a:rPr lang="en-US" sz="1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Utilisation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product inventories for own needs’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7190 ‘Adjustments to inventories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7200 ‘Cost of goods sold determined by the continuous inventory method (trade)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7200 ‘Cost of goods sold determined by the periodic method (trade)’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7210 ‘Purchase of goods’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7220 ‘Return of purchased goods’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7230 ‘Utilization of goods for own needs’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7290 ‘Adjustments to the cost of inventories’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7300 ‘Production costs of biological assets’.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7400 ‘Construction contract costs’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7500 ‘Expenses related to realization’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7510 ‘Advertising and Sales Promotion Expenses’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7520 ‘Expenses for payment of salaries’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7530 ‘Expenses for contributions to the Social Fund’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7540 ‘Expenses for storage and transport costs’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7550 ‘Expenses on bad debts related to sales’ 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7560 ‘Warranty service costs’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7570 ‘Other trade costs’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7580 ‘Depreciation expenses on fixed assets’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7590 ‘Expenses for premium sales’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7600 ‘Other production costs’</a:t>
            </a:r>
            <a:endParaRPr lang="ru-RU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024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9A3763F-B4D9-894C-C47B-D655C99C0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176981"/>
            <a:ext cx="4881716" cy="6504038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8000 ‘General and administrative expenses’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8010 ‘Labor expenses’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8020 ‘Social Fund Contribution Expenses’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8030 ‘Expenses on rent payment’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8040 ‘Expenses on payment for services’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8050 ‘Property tax’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8060 ‘Expenses for office supplies’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8070 ‘Communication expenses’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8080 ‘Insurance expenses’ 8080 ‘Insurance costs’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8090 ‘Expenses for licenses and other agreements’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8100 ‘Expenditure on VAT not eligible for credit’.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8110 ‘Repair and maintenance of fixed assets’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8120 ‘Expenses on computer software - software’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8130 ‘Representation expenses’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8140 ‘Remuneration of auditors’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8150 ‘Remuneration of lawyers’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8160 ‘Training expenses’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8170 ‘Consultancy expenses’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8180 ‘Public Relations Expenses’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8190 ‘Expenses for other taxes’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8200 ‘Travelling expenses (local)’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8210 ‘Travelling expenses (international)’.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8220 ‘Utility expenses’ .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8230 ‘Fines, penalties, forfeits to the budget’ .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8240 ‘Fines, penalties, forfeits under economic contracts’ .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8300 ‘Expenses on research and scientific development’ .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8470 ‘Expenses on </a:t>
            </a:r>
            <a:r>
              <a:rPr lang="en-US" sz="3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fixed assets’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8480 ‘Expenses on </a:t>
            </a:r>
            <a:r>
              <a:rPr lang="en-US" sz="3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amortisation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intangible assets’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8490 ‘Other general and administrative expenses.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78AF7-E784-6F88-CD1A-33612BAE32F2}"/>
              </a:ext>
            </a:extLst>
          </p:cNvPr>
          <p:cNvSpPr txBox="1"/>
          <p:nvPr/>
        </p:nvSpPr>
        <p:spPr>
          <a:xfrm>
            <a:off x="5349977" y="341609"/>
            <a:ext cx="640448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9000 ‘Non-operating income and expenses’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9100 ‘Income from non-operating activities’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9110 ‘Interest income’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9120 ‘Income from associates, subsidiaries’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9130 ‘Dividend income’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9140 ‘Foreign exchange gain on foreign currency transactions’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9190 ‘Other non-operating income’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9500 ‘Non-operating expenses’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9510 ‘Interest expense’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9520 ‘Losses from exchange rate differences on operations in foreign currency’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9530 ‘Expenses on bad debts’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9590 ‘Other non-operating expenses’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9800 ‘Extraordinary items’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9810 ‘Extraordinary profit’ 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9820 ‘Extraordinary loss’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9900 ‘Income Taxes’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9910 ‘Income tax expense (income)’</a:t>
            </a:r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703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0F035-4C50-41D0-9FF5-ACBD8F3F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14" y="146752"/>
            <a:ext cx="10515600" cy="534285"/>
          </a:xfrm>
        </p:spPr>
        <p:txBody>
          <a:bodyPr>
            <a:normAutofit fontScale="90000"/>
          </a:bodyPr>
          <a:lstStyle/>
          <a:p>
            <a:r>
              <a:rPr lang="de-DE" dirty="0"/>
              <a:t>II.</a:t>
            </a:r>
          </a:p>
        </p:txBody>
      </p:sp>
      <p:pic>
        <p:nvPicPr>
          <p:cNvPr id="4" name="Inhaltsplatzhalter 1">
            <a:extLst>
              <a:ext uri="{FF2B5EF4-FFF2-40B4-BE49-F238E27FC236}">
                <a16:creationId xmlns:a16="http://schemas.microsoft.com/office/drawing/2014/main" id="{970E4389-A14F-4C22-9811-92A8871AE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514" y="745760"/>
            <a:ext cx="8469443" cy="536647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4692894-3088-4820-8C5E-C43D24C74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113" y="1753849"/>
            <a:ext cx="3731585" cy="217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30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haltsplatzhalter 1">
            <a:extLst>
              <a:ext uri="{FF2B5EF4-FFF2-40B4-BE49-F238E27FC236}">
                <a16:creationId xmlns:a16="http://schemas.microsoft.com/office/drawing/2014/main" id="{456D94E8-03EF-4359-949F-C6A8CC728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8761" y="557544"/>
            <a:ext cx="7794989" cy="548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4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haltsplatzhalter 1">
            <a:extLst>
              <a:ext uri="{FF2B5EF4-FFF2-40B4-BE49-F238E27FC236}">
                <a16:creationId xmlns:a16="http://schemas.microsoft.com/office/drawing/2014/main" id="{ACB31026-3741-4D56-9262-D8427436C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046" y="211294"/>
            <a:ext cx="8520217" cy="610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2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F11F64-3916-4011-B134-264B235AB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837" y="301625"/>
            <a:ext cx="11580152" cy="6323764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II.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6AE66D2-6879-44AF-AD02-53A6AC374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761" y="642884"/>
            <a:ext cx="8988477" cy="520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54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haltsplatzhalter 1">
            <a:extLst>
              <a:ext uri="{FF2B5EF4-FFF2-40B4-BE49-F238E27FC236}">
                <a16:creationId xmlns:a16="http://schemas.microsoft.com/office/drawing/2014/main" id="{1534BF33-3189-4392-8BB9-83FDF7A84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889" y="209865"/>
            <a:ext cx="8363601" cy="611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86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haltsplatzhalter 1">
            <a:extLst>
              <a:ext uri="{FF2B5EF4-FFF2-40B4-BE49-F238E27FC236}">
                <a16:creationId xmlns:a16="http://schemas.microsoft.com/office/drawing/2014/main" id="{32BF1647-0321-47A4-9318-EA55AEF16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400" y="555529"/>
            <a:ext cx="9810671" cy="604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00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haltsplatzhalter 1">
            <a:extLst>
              <a:ext uri="{FF2B5EF4-FFF2-40B4-BE49-F238E27FC236}">
                <a16:creationId xmlns:a16="http://schemas.microsoft.com/office/drawing/2014/main" id="{E70CCB1F-3011-49B5-87C3-A1357542C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113" y="216571"/>
            <a:ext cx="9245007" cy="625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449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F11F64-3916-4011-B134-264B235AB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837" y="301625"/>
            <a:ext cx="11580152" cy="6323764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Illustration </a:t>
            </a:r>
            <a:r>
              <a:rPr lang="de-DE" dirty="0" err="1"/>
              <a:t>of</a:t>
            </a:r>
            <a:r>
              <a:rPr lang="de-DE" dirty="0"/>
              <a:t> Double – </a:t>
            </a:r>
            <a:r>
              <a:rPr lang="de-DE" dirty="0" err="1"/>
              <a:t>entry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October</a:t>
            </a:r>
            <a:r>
              <a:rPr lang="de-DE" dirty="0"/>
              <a:t> 4, 20XX Department </a:t>
            </a:r>
            <a:r>
              <a:rPr lang="de-DE" dirty="0" err="1"/>
              <a:t>purchased</a:t>
            </a:r>
            <a:r>
              <a:rPr lang="de-DE" dirty="0"/>
              <a:t> 100 $ </a:t>
            </a:r>
            <a:r>
              <a:rPr lang="de-DE" dirty="0" err="1"/>
              <a:t>worth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office</a:t>
            </a:r>
            <a:r>
              <a:rPr lang="de-DE" dirty="0"/>
              <a:t> </a:t>
            </a:r>
            <a:r>
              <a:rPr lang="de-DE" dirty="0" err="1"/>
              <a:t>supplies</a:t>
            </a:r>
            <a:r>
              <a:rPr lang="de-DE" dirty="0"/>
              <a:t> in cash.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Debet (2150) Office </a:t>
            </a:r>
            <a:r>
              <a:rPr lang="de-DE" dirty="0" err="1"/>
              <a:t>Supplies</a:t>
            </a:r>
            <a:r>
              <a:rPr lang="de-DE" dirty="0"/>
              <a:t> 100 $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err="1"/>
              <a:t>Credit</a:t>
            </a:r>
            <a:r>
              <a:rPr lang="de-DE" dirty="0"/>
              <a:t> (1100) Cash              100$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Purchased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office</a:t>
            </a:r>
            <a:r>
              <a:rPr lang="de-DE" dirty="0"/>
              <a:t> </a:t>
            </a:r>
            <a:r>
              <a:rPr lang="de-DE" dirty="0" err="1"/>
              <a:t>supplies</a:t>
            </a:r>
            <a:r>
              <a:rPr lang="de-DE" dirty="0"/>
              <a:t> in cash</a:t>
            </a:r>
          </a:p>
        </p:txBody>
      </p:sp>
    </p:spTree>
    <p:extLst>
      <p:ext uri="{BB962C8B-B14F-4D97-AF65-F5344CB8AC3E}">
        <p14:creationId xmlns:p14="http://schemas.microsoft.com/office/powerpoint/2010/main" val="5959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haltsplatzhalter 1">
            <a:extLst>
              <a:ext uri="{FF2B5EF4-FFF2-40B4-BE49-F238E27FC236}">
                <a16:creationId xmlns:a16="http://schemas.microsoft.com/office/drawing/2014/main" id="{3CF08608-D79B-4FAF-9EA9-03CBDF18C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550" y="1705769"/>
            <a:ext cx="88201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59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92B7DF9-48F3-764B-E7D6-611E791870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363915"/>
            <a:ext cx="11734800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(COA)?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company’s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five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Liabilities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“Equity”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“Cash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receivable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“Current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“Non-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2100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Accumulated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depreciation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constructions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intangible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their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payable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payable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Authorized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capital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recorded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6000–7000?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“Non-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Interest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Extraordinary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“Double-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Illustrate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double-entry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$100.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69093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F6DBB3-E75D-49E9-A5F9-FD375408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0108"/>
            <a:ext cx="10515600" cy="705553"/>
          </a:xfrm>
        </p:spPr>
        <p:txBody>
          <a:bodyPr/>
          <a:lstStyle/>
          <a:p>
            <a:pPr marL="0" indent="0" algn="ctr">
              <a:buNone/>
            </a:pPr>
            <a:r>
              <a:rPr lang="de-DE" b="1" dirty="0" err="1">
                <a:solidFill>
                  <a:srgbClr val="FF0000"/>
                </a:solidFill>
              </a:rPr>
              <a:t>Thanks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for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your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attention</a:t>
            </a:r>
            <a:r>
              <a:rPr lang="de-DE" b="1" dirty="0">
                <a:solidFill>
                  <a:srgbClr val="FF0000"/>
                </a:solidFill>
              </a:rPr>
              <a:t>!!!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C349FF0-CACF-44F3-A879-36AA633E6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52" y="269302"/>
            <a:ext cx="9940977" cy="523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6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2908</Words>
  <Application>Microsoft Office PowerPoint</Application>
  <PresentationFormat>Широкоэкранный</PresentationFormat>
  <Paragraphs>388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</vt:lpstr>
      <vt:lpstr>Chart of Accounts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II.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Ulanbek.Moldokmatov.nu2</dc:creator>
  <cp:lastModifiedBy>User</cp:lastModifiedBy>
  <cp:revision>40</cp:revision>
  <dcterms:created xsi:type="dcterms:W3CDTF">2024-07-30T11:37:45Z</dcterms:created>
  <dcterms:modified xsi:type="dcterms:W3CDTF">2025-10-13T05:45:09Z</dcterms:modified>
</cp:coreProperties>
</file>